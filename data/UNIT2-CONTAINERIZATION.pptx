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CD398-3DF8-CB50-5AF4-AEFC615D3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20DBC8-BBFE-8AC4-466E-F652D1C634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85859-5838-0626-A0BC-52C787D52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4969-9AFF-441C-9152-6C1A0F87CCE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FB9A5-EB50-81BD-6F35-0B7157268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EBF1D-A368-3911-5029-67210F20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047CE-3F19-4ADC-A704-CECB7F680C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600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0D2C4-C5EA-2F12-75AB-DEB1A7759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44653-76EE-CB8C-41D9-F4D3B6D34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12E7E-5A9E-0D97-BC18-D87C69B6A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4969-9AFF-441C-9152-6C1A0F87CCE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5D746-9091-4F15-3757-C3B15F580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68668-C29F-255E-F9B7-75536D7C1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047CE-3F19-4ADC-A704-CECB7F680C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732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AB7BF-DC60-6852-DA0E-26B1988BA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5D4F1-564D-174B-AF3E-F9D838BC6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E6B00-BAF8-4A49-57A3-73C850C07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4969-9AFF-441C-9152-6C1A0F87CCE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52405-DE36-3339-E6D3-8389530E1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E0644-B9E6-EF81-8B2A-73CFEA1F0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047CE-3F19-4ADC-A704-CECB7F680C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455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A9D10-DB3D-5260-1970-047722FA4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05D06-7087-8267-8F28-B5FAC8BE40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735B58-88B6-1730-D20A-57C713EBE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4CB821-CD7E-54A3-9EA1-59862F8D7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4969-9AFF-441C-9152-6C1A0F87CCE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E7357-8354-EE55-0209-9249B0289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AA4557-DA89-C8EB-F018-927F21B12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047CE-3F19-4ADC-A704-CECB7F680C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8829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81B9B-69A4-8788-A325-C5B6EA74E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ED679-B27F-36EC-D259-77ADAA24A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F2F117-8E08-CCDE-5345-DDD328B72A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D7432A-52A4-C973-0860-1AD4EC0E78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A4594B-7401-1363-8C18-8CC96F5CDF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55463A-5069-132C-6D3C-66A05C900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4969-9AFF-441C-9152-6C1A0F87CCE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F74DB2-45C2-8BC5-A958-AEECDCEA6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345A5-4035-BD5A-7450-BB994158A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047CE-3F19-4ADC-A704-CECB7F680C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9302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8CB23-8B9F-D514-9782-BFAD72809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AC9426-C527-6E27-2663-D708F7EB8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4969-9AFF-441C-9152-6C1A0F87CCE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899809-8F46-6DFB-A1D4-9693CDE8D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73339F-E300-3A2C-4A2F-F7ECF8AB9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047CE-3F19-4ADC-A704-CECB7F680C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3268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85FEC-C6C5-CB70-F4D2-8336458E7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4969-9AFF-441C-9152-6C1A0F87CCE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BDF99F-E4EF-48D0-0BF6-E5194E42E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0C063A-0114-1BE0-088D-0C2FE4A0B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047CE-3F19-4ADC-A704-CECB7F680C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143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7F15C-E0BD-0DF2-7C95-6BA0A8A6E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36341-E69E-9416-DB23-48A5BA555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4A6343-184C-5D2F-AB8C-E8F986E400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D7069-E6E3-43D2-2DF6-52D79CB07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4969-9AFF-441C-9152-6C1A0F87CCE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972624-AE92-CE8E-9F76-92B705E83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696D2-4AAB-65AD-DC5A-E00AB736A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047CE-3F19-4ADC-A704-CECB7F680C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192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4B2A6-2C32-838F-A922-9FA56BF2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FCC9AF-3824-983F-5208-91BD4946C4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05C26B-69D6-9984-ABB2-5EF07C8397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B2B258-0AD7-A6CB-C20D-BC72EE62B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4969-9AFF-441C-9152-6C1A0F87CCE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44C3DC-2C52-7319-86E5-44D0DAF8C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23AC05-F70F-2D71-B0DA-35477529A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047CE-3F19-4ADC-A704-CECB7F680C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937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CACD2-056F-3978-94D8-4C4951A30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B9042F-A6E0-B481-0973-3AEF22C7C7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BB1A9-E862-5C5F-2AB1-B48CCA55C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4969-9AFF-441C-9152-6C1A0F87CCE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3AF0E-80DC-3F4A-F179-5745FB942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09077-C642-01EC-E441-3BABBC996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047CE-3F19-4ADC-A704-CECB7F680C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7761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B38CAF-FD53-5FAA-67EA-0094A68AA2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215150-A952-CE5F-11FB-A3A5F8212B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CE52D-E8B3-9D15-862A-1041680C7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4969-9AFF-441C-9152-6C1A0F87CCE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D682B-8503-00AB-0AF0-C8FC3E8E0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81941-75CF-8316-8DB8-AE7E44ABD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047CE-3F19-4ADC-A704-CECB7F680C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42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1D5ABA-1CCE-23EF-0C14-CC679B487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53B5D-A4D7-6177-2E90-8EEBF32CB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10B1B-AD56-1D73-968D-190566BC0E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734969-9AFF-441C-9152-6C1A0F87CCE8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FBD36-C577-5BE1-D530-F71DF69B56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944CF-6047-F53E-0031-8A67B23E02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7047CE-3F19-4ADC-A704-CECB7F680C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1485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software-testing/what-is-an-api/" TargetMode="External"/><Relationship Id="rId2" Type="http://schemas.openxmlformats.org/officeDocument/2006/relationships/hyperlink" Target="https://www.geeksforgeeks.org/devops/introduction-to-kubernetes-k8s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geeksforgeeks.org/dbms/what-is-database/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A672E2-CD77-F445-D241-D7177FCDB9C7}"/>
              </a:ext>
            </a:extLst>
          </p:cNvPr>
          <p:cNvSpPr txBox="1"/>
          <p:nvPr/>
        </p:nvSpPr>
        <p:spPr>
          <a:xfrm>
            <a:off x="792480" y="518160"/>
            <a:ext cx="10668000" cy="4253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Containerization in DevOps</a:t>
            </a:r>
          </a:p>
          <a:p>
            <a:pPr algn="just">
              <a:lnSpc>
                <a:spcPct val="200000"/>
              </a:lnSpc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Containerization is a method of packaging an application with all its dependencies (libraries, configuration files, runtime) into a single, portable unit called a Container. These containers run consistently across environments, whether on a developer’s laptop, a test server, or in production, without compatibility issues.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61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40BC9C-1340-5C57-DA0F-4189C3108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120" y="1036320"/>
            <a:ext cx="944880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358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F8E022-6E59-EDE3-495E-284FAE083D2A}"/>
              </a:ext>
            </a:extLst>
          </p:cNvPr>
          <p:cNvSpPr txBox="1"/>
          <p:nvPr/>
        </p:nvSpPr>
        <p:spPr>
          <a:xfrm>
            <a:off x="741680" y="451178"/>
            <a:ext cx="10708640" cy="5740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spcAft>
                <a:spcPts val="1800"/>
              </a:spcAft>
            </a:pPr>
            <a:r>
              <a:rPr lang="en-US" sz="28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Before Containerization</a:t>
            </a:r>
          </a:p>
          <a:p>
            <a:pPr algn="just" fontAlgn="base">
              <a:spcAft>
                <a:spcPts val="1800"/>
              </a:spcAft>
            </a:pPr>
            <a:r>
              <a:rPr lang="en-US" sz="24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Virtual Machines setup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Each application ran inside its own VM, with a </a:t>
            </a:r>
            <a:r>
              <a:rPr lang="en-US" sz="240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full operating system on top of a hypervisor.</a:t>
            </a:r>
          </a:p>
          <a:p>
            <a:pPr algn="just" fontAlgn="base">
              <a:spcAft>
                <a:spcPts val="1800"/>
              </a:spcAft>
            </a:pPr>
            <a:r>
              <a:rPr lang="en-US" sz="24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Resource wastage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Running multiple full OS instances consumed a lot of CPU, memory, and storage. Even small apps needed heavy resources.</a:t>
            </a:r>
          </a:p>
          <a:p>
            <a:pPr algn="just" fontAlgn="base">
              <a:spcAft>
                <a:spcPts val="1800"/>
              </a:spcAft>
            </a:pPr>
            <a:r>
              <a:rPr lang="en-US" sz="24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Environment mismatch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“It works on my machine” was a common problem, because apps behaved differently across development, testing, and production environments.</a:t>
            </a:r>
          </a:p>
          <a:p>
            <a:pPr algn="just" fontAlgn="base">
              <a:spcAft>
                <a:spcPts val="1800"/>
              </a:spcAft>
            </a:pPr>
            <a:r>
              <a:rPr lang="en-US" sz="24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Scaling issues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Scaling a monolithic app meant starting a new VM, which could take minutes and wasted resources since the entire OS had to boot.</a:t>
            </a:r>
          </a:p>
          <a:p>
            <a:pPr algn="just" fontAlgn="base">
              <a:spcAft>
                <a:spcPts val="1800"/>
              </a:spcAft>
            </a:pPr>
            <a:r>
              <a:rPr lang="en-US" sz="24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Slow delivery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Updating even a small feature meant redeploying the entire application or spinning up more VMs, making releases slow and risky.</a:t>
            </a:r>
          </a:p>
        </p:txBody>
      </p:sp>
    </p:spTree>
    <p:extLst>
      <p:ext uri="{BB962C8B-B14F-4D97-AF65-F5344CB8AC3E}">
        <p14:creationId xmlns:p14="http://schemas.microsoft.com/office/powerpoint/2010/main" val="3708486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FA2AC9-7AD4-82E9-1B86-E905B616D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280" y="802640"/>
            <a:ext cx="10281920" cy="514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83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41BFDA-6CA9-B74D-486A-5B5117268C55}"/>
              </a:ext>
            </a:extLst>
          </p:cNvPr>
          <p:cNvSpPr txBox="1"/>
          <p:nvPr/>
        </p:nvSpPr>
        <p:spPr>
          <a:xfrm>
            <a:off x="487680" y="538480"/>
            <a:ext cx="11216640" cy="6038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containerization, applications no longer needed heavy Virtual Machines for isolation. Instead, they could run inside </a:t>
            </a:r>
            <a:r>
              <a:rPr lang="en-US" sz="20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lightweight containers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that package the application and all its dependencies together:</a:t>
            </a:r>
          </a:p>
          <a:p>
            <a:pPr algn="just" fontAlgn="base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Once, Run Anywhere: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Containers package an application with its dependencies into a single, portable unit, ensuring it runs consistently across any environment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Since the app and dependencies are bundled together, the same container image runs everywhere without conflicts.</a:t>
            </a:r>
          </a:p>
          <a:p>
            <a:pPr algn="just" fontAlgn="base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Microservices-friendly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Instead of one large monolithic app, systems can be split into smaller services, each in its own container, making scaling and updates easier.</a:t>
            </a:r>
          </a:p>
          <a:p>
            <a:pPr algn="just" fontAlgn="base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scaling &amp; deployment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Tools like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 orchestrators like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allow containers to be deployed, replicated, and rolled back quickly.</a:t>
            </a:r>
          </a:p>
          <a:p>
            <a:pPr algn="just" fontAlgn="base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CI/CD pipelines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Containers integrate seamlessly with automated pipelines, ensuring smoother collaboration between developers, testers, and operations teams.</a:t>
            </a:r>
          </a:p>
          <a:p>
            <a:pPr algn="just"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005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BF1DF9-8A60-E55D-7EF8-C68462D0D9CA}"/>
              </a:ext>
            </a:extLst>
          </p:cNvPr>
          <p:cNvSpPr txBox="1"/>
          <p:nvPr/>
        </p:nvSpPr>
        <p:spPr>
          <a:xfrm>
            <a:off x="1087120" y="463380"/>
            <a:ext cx="7589520" cy="6547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2100"/>
              </a:lnSpc>
            </a:pPr>
            <a:r>
              <a:rPr lang="en-IN" sz="24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Containerization Workflow</a:t>
            </a:r>
          </a:p>
          <a:p>
            <a:pPr marL="285750" indent="-285750" fontAlgn="base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Write the Application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 the Application into an Image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the Image in a Registry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Containers from the Image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 and Update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and Orchestrate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b="1" i="0" dirty="0">
              <a:solidFill>
                <a:srgbClr val="27323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0985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8275A4-B6B3-7B9F-DF6D-57229C2F1D1F}"/>
              </a:ext>
            </a:extLst>
          </p:cNvPr>
          <p:cNvSpPr txBox="1"/>
          <p:nvPr/>
        </p:nvSpPr>
        <p:spPr>
          <a:xfrm>
            <a:off x="904240" y="869780"/>
            <a:ext cx="6096000" cy="4076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2100"/>
              </a:lnSpc>
              <a:buNone/>
            </a:pPr>
            <a:r>
              <a:rPr lang="en-IN" sz="28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Common Containerization Tools</a:t>
            </a:r>
          </a:p>
          <a:p>
            <a:pPr fontAlgn="base">
              <a:lnSpc>
                <a:spcPct val="2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</a:p>
          <a:p>
            <a:pPr fontAlgn="base">
              <a:lnSpc>
                <a:spcPct val="2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Containers (LXC)</a:t>
            </a:r>
          </a:p>
          <a:p>
            <a:pPr fontAlgn="base">
              <a:lnSpc>
                <a:spcPct val="2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</a:t>
            </a:r>
          </a:p>
          <a:p>
            <a:pPr fontAlgn="base">
              <a:lnSpc>
                <a:spcPct val="2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ECS</a:t>
            </a:r>
          </a:p>
          <a:p>
            <a:pPr fontAlgn="base">
              <a:lnSpc>
                <a:spcPct val="2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GKE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708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F46A7E-D43C-B1C1-6905-95A96BCE58EB}"/>
              </a:ext>
            </a:extLst>
          </p:cNvPr>
          <p:cNvSpPr txBox="1"/>
          <p:nvPr/>
        </p:nvSpPr>
        <p:spPr>
          <a:xfrm>
            <a:off x="1320800" y="381338"/>
            <a:ext cx="8961120" cy="5150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Docker?</a:t>
            </a:r>
          </a:p>
          <a:p>
            <a:pPr algn="just">
              <a:lnSpc>
                <a:spcPct val="2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is a containerization platform used to:</a:t>
            </a:r>
          </a:p>
          <a:p>
            <a:pPr algn="just"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containers</a:t>
            </a:r>
          </a:p>
          <a:p>
            <a:pPr algn="just"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containers</a:t>
            </a:r>
          </a:p>
          <a:p>
            <a:pPr algn="just"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container images</a:t>
            </a:r>
          </a:p>
          <a:p>
            <a:pPr algn="just">
              <a:lnSpc>
                <a:spcPct val="2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simple words:</a:t>
            </a:r>
          </a:p>
          <a:p>
            <a:pPr algn="just">
              <a:lnSpc>
                <a:spcPct val="2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is a tool used to build and run containers</a:t>
            </a:r>
          </a:p>
        </p:txBody>
      </p:sp>
    </p:spTree>
    <p:extLst>
      <p:ext uri="{BB962C8B-B14F-4D97-AF65-F5344CB8AC3E}">
        <p14:creationId xmlns:p14="http://schemas.microsoft.com/office/powerpoint/2010/main" val="2234900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27D2C7-920B-1C8B-D5BD-AD029DE92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0" y="711200"/>
            <a:ext cx="10302240" cy="5151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995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ECD37C-6D20-7996-EEC0-C325C22DE1A9}"/>
              </a:ext>
            </a:extLst>
          </p:cNvPr>
          <p:cNvSpPr txBox="1"/>
          <p:nvPr/>
        </p:nvSpPr>
        <p:spPr>
          <a:xfrm>
            <a:off x="599440" y="365760"/>
            <a:ext cx="11115040" cy="5581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Architecture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uses a Client-Server architecture. It is not just a single program, but a system of three parts talking to each other.</a:t>
            </a:r>
          </a:p>
          <a:p>
            <a:pPr>
              <a:lnSpc>
                <a:spcPct val="20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Client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command line tool (docker) that you type commands into.</a:t>
            </a:r>
          </a:p>
          <a:p>
            <a:pPr>
              <a:lnSpc>
                <a:spcPct val="2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Daemon (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dockerd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background process running on the host that does the heavy lifting (building, running, and distributing containers).</a:t>
            </a:r>
          </a:p>
          <a:p>
            <a:pPr>
              <a:lnSpc>
                <a:spcPct val="2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Registry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storage location for Docker Images (like Docker Hub).</a:t>
            </a:r>
          </a:p>
        </p:txBody>
      </p:sp>
    </p:spTree>
    <p:extLst>
      <p:ext uri="{BB962C8B-B14F-4D97-AF65-F5344CB8AC3E}">
        <p14:creationId xmlns:p14="http://schemas.microsoft.com/office/powerpoint/2010/main" val="2961608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1725F8-CF23-8C99-4F3A-059536A371AF}"/>
              </a:ext>
            </a:extLst>
          </p:cNvPr>
          <p:cNvSpPr txBox="1"/>
          <p:nvPr/>
        </p:nvSpPr>
        <p:spPr>
          <a:xfrm>
            <a:off x="1188720" y="800683"/>
            <a:ext cx="8422640" cy="4945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ct val="200000"/>
              </a:lnSpc>
              <a:buNone/>
            </a:pPr>
            <a:r>
              <a:rPr lang="en-US" sz="28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Docker</a:t>
            </a:r>
          </a:p>
          <a:p>
            <a:pPr algn="l" rtl="0" fontAlgn="base">
              <a:lnSpc>
                <a:spcPct val="200000"/>
              </a:lnSpc>
              <a:spcAft>
                <a:spcPts val="750"/>
              </a:spcAft>
              <a:buNone/>
            </a:pPr>
            <a:r>
              <a:rPr lang="en-US" sz="240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main components of Docker include - </a:t>
            </a:r>
          </a:p>
          <a:p>
            <a:pPr algn="l" rtl="0" fontAlgn="base">
              <a:lnSpc>
                <a:spcPct val="200000"/>
              </a:lnSpc>
              <a:spcAft>
                <a:spcPts val="750"/>
              </a:spcAft>
              <a:buNone/>
            </a:pPr>
            <a:r>
              <a:rPr lang="en-US" sz="240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 clients and servers, </a:t>
            </a:r>
          </a:p>
          <a:p>
            <a:pPr algn="l" rtl="0" fontAlgn="base">
              <a:lnSpc>
                <a:spcPct val="200000"/>
              </a:lnSpc>
              <a:spcAft>
                <a:spcPts val="750"/>
              </a:spcAft>
              <a:buNone/>
            </a:pPr>
            <a:r>
              <a:rPr lang="en-US" sz="240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 images, </a:t>
            </a:r>
          </a:p>
          <a:p>
            <a:pPr algn="l" rtl="0" fontAlgn="base">
              <a:lnSpc>
                <a:spcPct val="200000"/>
              </a:lnSpc>
              <a:spcAft>
                <a:spcPts val="750"/>
              </a:spcAft>
              <a:buNone/>
            </a:pPr>
            <a:r>
              <a:rPr lang="en-US" sz="2400" i="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</a:p>
          <a:p>
            <a:pPr algn="l" rtl="0" fontAlgn="base">
              <a:lnSpc>
                <a:spcPct val="200000"/>
              </a:lnSpc>
              <a:spcAft>
                <a:spcPts val="750"/>
              </a:spcAft>
              <a:buNone/>
            </a:pPr>
            <a:r>
              <a:rPr lang="en-US" sz="2400" i="0" dirty="0">
                <a:solidFill>
                  <a:srgbClr val="3579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 Registries</a:t>
            </a:r>
            <a:r>
              <a:rPr lang="en-US" sz="240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 Docker containers. </a:t>
            </a:r>
          </a:p>
        </p:txBody>
      </p:sp>
    </p:spTree>
    <p:extLst>
      <p:ext uri="{BB962C8B-B14F-4D97-AF65-F5344CB8AC3E}">
        <p14:creationId xmlns:p14="http://schemas.microsoft.com/office/powerpoint/2010/main" val="346051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3C87495-F385-F88A-3F83-012856FFD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650" y="1343025"/>
            <a:ext cx="7886700" cy="41719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43ABBA-E42C-5EA5-737A-41FE37A67308}"/>
              </a:ext>
            </a:extLst>
          </p:cNvPr>
          <p:cNvSpPr txBox="1"/>
          <p:nvPr/>
        </p:nvSpPr>
        <p:spPr>
          <a:xfrm>
            <a:off x="690880" y="538480"/>
            <a:ext cx="802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Clients and Servers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407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81C5C3-1580-679F-638C-C24D1915425C}"/>
              </a:ext>
            </a:extLst>
          </p:cNvPr>
          <p:cNvSpPr txBox="1"/>
          <p:nvPr/>
        </p:nvSpPr>
        <p:spPr>
          <a:xfrm>
            <a:off x="924560" y="1087120"/>
            <a:ext cx="10657840" cy="4349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spcAft>
                <a:spcPts val="750"/>
              </a:spcAft>
              <a:buNone/>
            </a:pPr>
            <a:r>
              <a:rPr lang="en-US" sz="24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 Images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A Docker Image is a read-only, inert template that contains the application code, libraries, dependencies, tools, and other files needed for an application to run.</a:t>
            </a:r>
          </a:p>
          <a:p>
            <a:pPr algn="l" fontAlgn="base">
              <a:spcAft>
                <a:spcPts val="1800"/>
              </a:spcAft>
            </a:pPr>
            <a:r>
              <a:rPr lang="en-US" sz="24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Concept: 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Layered Architecture Images are not monolithic blobs; they are built in Layers.</a:t>
            </a:r>
          </a:p>
          <a:p>
            <a:pPr algn="l" fontAlgn="base">
              <a:spcAft>
                <a:spcPts val="1800"/>
              </a:spcAft>
            </a:pPr>
            <a:r>
              <a:rPr lang="en-US" sz="24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you pull an image like nginx, you aren't downloading one big file. You are downloading multiple small layers (e.g., a layer for the OS, a layer for the Nginx software, a layer for config files).</a:t>
            </a:r>
          </a:p>
          <a:p>
            <a:pPr algn="l" fontAlgn="base">
              <a:spcAft>
                <a:spcPts val="1800"/>
              </a:spcAft>
            </a:pPr>
            <a:r>
              <a:rPr lang="en-US" sz="24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Immutability: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Once an image is built, it cannot be changed. If you need to fix a bug, you don't "patch" the image; you modify the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build a new image</a:t>
            </a:r>
          </a:p>
        </p:txBody>
      </p:sp>
    </p:spTree>
    <p:extLst>
      <p:ext uri="{BB962C8B-B14F-4D97-AF65-F5344CB8AC3E}">
        <p14:creationId xmlns:p14="http://schemas.microsoft.com/office/powerpoint/2010/main" val="25433574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57AE34-5485-1DA6-7A55-9F2EF5828E77}"/>
              </a:ext>
            </a:extLst>
          </p:cNvPr>
          <p:cNvSpPr txBox="1"/>
          <p:nvPr/>
        </p:nvSpPr>
        <p:spPr>
          <a:xfrm>
            <a:off x="812800" y="762000"/>
            <a:ext cx="10068560" cy="5207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File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plain text file containing a sequential list of instructions (commands) that the Docker Daemon reads to automatically build an image. It is the "source code" of your infrastructure. Every line in 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creates a new "layer" in the image. Docker reads the file from top to bottom.</a:t>
            </a:r>
          </a:p>
          <a:p>
            <a:pPr algn="just"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FROM: The starting point (e.g., FROM ubuntu:20.04). This is the foundation.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RUN: Executes commands during the build process (e.g., RUN apt-get install python3). This "bakes" software into the image.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COPY: Moves your actual code from your computer into the image.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CMD: The default command that runs when the container starts (e.g., CMD ["python", "app.py"]).</a:t>
            </a:r>
          </a:p>
        </p:txBody>
      </p:sp>
    </p:spTree>
    <p:extLst>
      <p:ext uri="{BB962C8B-B14F-4D97-AF65-F5344CB8AC3E}">
        <p14:creationId xmlns:p14="http://schemas.microsoft.com/office/powerpoint/2010/main" val="1064822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B3320B-03C3-01CF-FC8C-71AFFF4CF18D}"/>
              </a:ext>
            </a:extLst>
          </p:cNvPr>
          <p:cNvSpPr txBox="1"/>
          <p:nvPr/>
        </p:nvSpPr>
        <p:spPr>
          <a:xfrm>
            <a:off x="629920" y="918756"/>
            <a:ext cx="10840720" cy="2195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Containers-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Container is a runnable instance of an image. It is the actual "living" process. When you start a container, Docker takes the read-only Image and adds a thin Read-Write (R/W) layer on top of it.</a:t>
            </a:r>
          </a:p>
        </p:txBody>
      </p:sp>
    </p:spTree>
    <p:extLst>
      <p:ext uri="{BB962C8B-B14F-4D97-AF65-F5344CB8AC3E}">
        <p14:creationId xmlns:p14="http://schemas.microsoft.com/office/powerpoint/2010/main" val="2126156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3AB235-B6B1-0E3B-D15F-8BB047C758CC}"/>
              </a:ext>
            </a:extLst>
          </p:cNvPr>
          <p:cNvSpPr txBox="1"/>
          <p:nvPr/>
        </p:nvSpPr>
        <p:spPr>
          <a:xfrm>
            <a:off x="751840" y="829101"/>
            <a:ext cx="105054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Kubernetes?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 is an open-source container orchestration platform.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 manages containers automatically.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was developed by Google and is now maintained by CNCF.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470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52876F-2C92-4BC7-40FC-500F89951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028700"/>
            <a:ext cx="85344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2692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CA8B37-35CA-3B0B-A7C7-26D6F85B92A2}"/>
              </a:ext>
            </a:extLst>
          </p:cNvPr>
          <p:cNvSpPr txBox="1"/>
          <p:nvPr/>
        </p:nvSpPr>
        <p:spPr>
          <a:xfrm>
            <a:off x="538480" y="753517"/>
            <a:ext cx="11297920" cy="2934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400" b="0" i="0" u="sng" dirty="0">
                <a:solidFill>
                  <a:srgbClr val="3579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Kubernetes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comes with a client-server architecture. It consists of master and worker nodes, with the master being installed on a single Linux system and the nodes on many Linux workstations. The master node, contains the components such as </a:t>
            </a:r>
            <a:r>
              <a:rPr lang="en-US" sz="2400" b="0" i="0" u="sng" dirty="0">
                <a:solidFill>
                  <a:srgbClr val="3579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API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Server, controller manager, scheduler, and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etcd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b="0" i="0" u="sng" dirty="0">
                <a:solidFill>
                  <a:srgbClr val="3579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database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 stage storage. 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5241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47C242-EED5-3CF5-304B-7B8A3827E1B6}"/>
              </a:ext>
            </a:extLst>
          </p:cNvPr>
          <p:cNvSpPr txBox="1"/>
          <p:nvPr/>
        </p:nvSpPr>
        <p:spPr>
          <a:xfrm>
            <a:off x="711200" y="567546"/>
            <a:ext cx="10769600" cy="4385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lnSpc>
                <a:spcPct val="200000"/>
              </a:lnSpc>
              <a:spcAft>
                <a:spcPts val="750"/>
              </a:spcAft>
              <a:buNone/>
            </a:pPr>
            <a:r>
              <a:rPr lang="en-US" sz="220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Kubernetes is composed of a number of components, each of which plays a specific role in the overall system. These components can be divided into two categories:</a:t>
            </a:r>
          </a:p>
          <a:p>
            <a:pPr algn="l" fontAlgn="base">
              <a:lnSpc>
                <a:spcPct val="200000"/>
              </a:lnSpc>
              <a:spcAft>
                <a:spcPts val="1800"/>
              </a:spcAft>
            </a:pPr>
            <a:r>
              <a:rPr lang="en-US" sz="2200" b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odes:</a:t>
            </a:r>
            <a:r>
              <a:rPr lang="en-US" sz="220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Each </a:t>
            </a:r>
            <a:r>
              <a:rPr lang="en-US" sz="2200" i="0" dirty="0">
                <a:solidFill>
                  <a:srgbClr val="3579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Kubernetes cluster </a:t>
            </a:r>
            <a:r>
              <a:rPr lang="en-US" sz="220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requires at least one worker node, which is a collection of worker machines that make up the nodes where our container will be deployed.</a:t>
            </a:r>
          </a:p>
          <a:p>
            <a:pPr algn="l" fontAlgn="base">
              <a:lnSpc>
                <a:spcPct val="200000"/>
              </a:lnSpc>
              <a:spcAft>
                <a:spcPts val="1800"/>
              </a:spcAft>
            </a:pPr>
            <a:r>
              <a:rPr lang="en-US" sz="22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 plane: </a:t>
            </a:r>
            <a:r>
              <a:rPr lang="en-US" sz="220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worker nodes and any pods contained within them will be under the control plane</a:t>
            </a:r>
          </a:p>
        </p:txBody>
      </p:sp>
    </p:spTree>
    <p:extLst>
      <p:ext uri="{BB962C8B-B14F-4D97-AF65-F5344CB8AC3E}">
        <p14:creationId xmlns:p14="http://schemas.microsoft.com/office/powerpoint/2010/main" val="3998075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614</TotalTime>
  <Words>1034</Words>
  <Application>Microsoft Office PowerPoint</Application>
  <PresentationFormat>Widescreen</PresentationFormat>
  <Paragraphs>66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Malathi P</dc:creator>
  <cp:lastModifiedBy>Malathi P</cp:lastModifiedBy>
  <cp:revision>24</cp:revision>
  <dcterms:created xsi:type="dcterms:W3CDTF">2026-01-29T04:43:52Z</dcterms:created>
  <dcterms:modified xsi:type="dcterms:W3CDTF">2026-02-03T06:24:25Z</dcterms:modified>
</cp:coreProperties>
</file>